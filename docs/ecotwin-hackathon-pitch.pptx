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The Campus Sustainability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higher education institutions struggle to achieve net-zero commitments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28416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F59E0B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Data Fragmentation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Utility bills, electric meters, and maintenance logs live in disconnected silos. Facility teams lack unified spatial context to identify anomalies.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103120"/>
            <a:ext cx="3328416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46888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A855F7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Physical Blind Spots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Critical incidents like overflowing waste bins, equipment faults, or exterior water leaks remain invisible to digital systems until someone files a complaint.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103120"/>
            <a:ext cx="3328416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46888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Reactive Guesswork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Sustainability committees make major policy and retrofit decisions based on guesswork, lacking safe, deterministic sandboxes to test interventions beforehand.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EcoTwin AI: Intelligent Campus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See the problem. Simulate the solution. Make the campus sustainable.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8BDF8"/>
                </a:solidFill>
              </a:defRPr>
            </a:pPr>
            <a:r>
              <a:t>2.5D Spatial Twin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Interactive virtual campus mapping Academic Block, Library, and Student Residence with synchronized telemetry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2011680"/>
            <a:ext cx="246888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219456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A855F7"/>
                </a:solidFill>
              </a:defRPr>
            </a:pPr>
            <a:r>
              <a:t>Vision-to-Action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Dedicated Computer Vision model detecting waste accumulation and leaks, routed through human verification before twin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011680"/>
            <a:ext cx="246888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9456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10B981"/>
                </a:solidFill>
              </a:defRPr>
            </a:pPr>
            <a:r>
              <a:t>Deterministic Engine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Verifiable mathematical simulation modeling Energy, Water, and Waste policies with zero AI hallucination.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2011680"/>
            <a:ext cx="246888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19456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8BDF8"/>
                </a:solidFill>
              </a:defRPr>
            </a:pPr>
            <a:r>
              <a:t>Grok AI Intelligence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Context-grounded reasoning generating prioritized recommendations and comprehensive executive sustainability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10725912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10177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CORE CONSTITUTIONAL PRINCIPLE: Strictly distinguish measured facts from simulations, observations, and AI explanations. Never present projected savings as measured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The Connected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From raw field observation to verifiable executive intervention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993392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38BDF8"/>
                </a:solidFill>
              </a:defRPr>
            </a:pPr>
            <a:r>
              <a:t>01. Telemetry Ingestion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Simulated and manual readings (kWh, L, %) ingested with unit discipline and provenance labeling.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103120"/>
            <a:ext cx="1993392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28600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A855F7"/>
                </a:solidFill>
              </a:defRPr>
            </a:pPr>
            <a:r>
              <a:t>02. Computer Vision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Dedicated CV service validates magic bytes, infers anomalies, and assigns requires_review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103120"/>
            <a:ext cx="1993392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228600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10B981"/>
                </a:solidFill>
              </a:defRPr>
            </a:pPr>
            <a:r>
              <a:t>03. Digital Twin Core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FastAPI + SQLAlchemy models aggregate spatial coordinates, building metadata, and verified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103120"/>
            <a:ext cx="1993392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228600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38BDF8"/>
                </a:solidFill>
              </a:defRPr>
            </a:pPr>
            <a:r>
              <a:t>04. Deterministic Engine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Pure mathematical simulation engine forecasts exact energy curtailment and cost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103120"/>
            <a:ext cx="1993392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228600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500">
                <a:solidFill>
                  <a:srgbClr val="A855F7"/>
                </a:solidFill>
              </a:defRPr>
            </a:pPr>
            <a:r>
              <a:t>05. Grok AI Grounding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xAI Grok cites verified facility metrics and simulation numbers to produce grounded audit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SIGNATURE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The Sustainability Time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Deterministic policy forecasting before capital 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28416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38BDF8"/>
                </a:solidFill>
              </a:defRPr>
            </a:pPr>
            <a:r>
              <a:t>Multi-Resource Dimensions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Explore interventions across Energy (operating schedule curtailment, LED retrofits, HVAC setback), Water (flow reduction, rainwater harvesting), and Waste (segregation rate, composting).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103120"/>
            <a:ext cx="3328416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46888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A855F7"/>
                </a:solidFill>
              </a:defRPr>
            </a:pPr>
            <a:r>
              <a:t>3-Tab Comparative Analytics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Interactive visual sandbox: Comparative BarChart (Baseline vs Projected), 30-Day Cumulative Trajectory AreaChart, and Engineering Methodology inspecting exact tariff formulas ($0.12/kWh).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103120"/>
            <a:ext cx="3328416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46888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10B981"/>
                </a:solidFill>
              </a:defRPr>
            </a:pPr>
            <a:r>
              <a:t>Deterministic Reliability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Zero stochastic AI hallucination in numerical calculations. Identical scenario parameters yield mathematically identical kilowatt-hour and dollar savings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PROTOTYPE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Working Product &amp; Technical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Honest audit from our Phase 5 and Phase 6 automated test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75504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0B981"/>
                </a:solidFill>
              </a:defRPr>
            </a:pPr>
            <a:r>
              <a:t>VERIFIED LIVE CAPABILITIES (32/32 TESTS PASS)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2.5D Isometric SVG Campus Twin: Selectable polygons for ACADEMIC, LIB, RESIDENCE with active CV observation markers.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Computer Vision Pipeline: Validates magic bytes (JPEG/PNG/WebP), enforces 8MB limit, and requires human-in-the-loop review.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Sustainability Time Machine: Multi-tab comparative analytics, bound checks, and reproducible engineering models.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Grok AI Advisor &amp; Reports: Structured grounding, 0-10 priority scoring, and instant PDF audit report compilation with 503 fallbacks.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Production Hardened: 0 leaked secrets, clean 500 error sanitization, and Vite SPA client-side deep routing redirects.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2011680"/>
            <a:ext cx="5175504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4884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F59E0B"/>
                </a:solidFill>
              </a:defRPr>
            </a:pPr>
            <a:r>
              <a:t>DOCUMENTED TEAM BOUNDARIES &amp; DATA HONESTY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Telemetry Persistence Ownership: Backend routes for /api/campus, /api/buildings, and /api/sensors belong to Person 2.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Zero Fabricated Data: When pending endpoints return 404, the frontend displays transparent &lt;DependencyNotice&gt; cards rather than faking telemetry.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Unit Discipline Strictly Enforced: Energy in kWh, Water volume in L, and Waste in kg/%. Instantaneous kW and volumes are never mixed.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Provider Fault Tolerance: If XAI_API_KEY is unconfigured or reaches rate limits, the system safely falls back to deterministic audit calculations.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Deployment Integrity: Tested against ephemeral container constraints; persistent volume mount (/data) required for production SQLite.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Measurable Impact &amp; Scaling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Transforming campus facility management from reactive reporting into proactive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75504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38BDF8"/>
                </a:solidFill>
              </a:defRPr>
            </a:pPr>
            <a:r>
              <a:t>TARGET CAMPUS BENEFITS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10% - 20% Energy Curtailment: Forecasted monthly reductions through automated operating schedule setbacks and lighting policy optimization.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4x Faster Custodial Turnaround: Visible bin overflow and plumbing leak observations trigger immediate human-verified custodial dispatches.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Executive Audit Readiness: 1-click sustainability report compilation eliminates weeks of manual spreadsheet aggregation for campus committees.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Evidence-Grounded Governance: Transparent calculations allow facility directors to justify capital retrofits with auditable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2011680"/>
            <a:ext cx="5175504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4884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A855F7"/>
                </a:solidFill>
              </a:defRPr>
            </a:pPr>
            <a:r>
              <a:t>POST-HACKATHON ROADMAP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Phase 1: Physical IoT Sub-Meters: Connect Modbus/BACnet physical power sub-meters across university departmental distribution panels.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Phase 2: Automated CCTV Vision Streams: Real-time edge video pipeline for autonomous waste bin overflow and perimeter moisture detection.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Phase 3: Multi-Building Portfolio Benchmarking: Expand the Digital Twin across entire collegiate district portfolios with comparative ESG rankings.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